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82" r:id="rId3"/>
    <p:sldId id="283" r:id="rId4"/>
    <p:sldId id="284" r:id="rId5"/>
    <p:sldId id="285" r:id="rId6"/>
    <p:sldId id="321" r:id="rId7"/>
    <p:sldId id="322" r:id="rId8"/>
    <p:sldId id="323" r:id="rId9"/>
    <p:sldId id="286" r:id="rId10"/>
    <p:sldId id="289" r:id="rId11"/>
    <p:sldId id="287" r:id="rId12"/>
    <p:sldId id="288" r:id="rId13"/>
    <p:sldId id="319" r:id="rId14"/>
    <p:sldId id="296" r:id="rId15"/>
    <p:sldId id="324" r:id="rId16"/>
    <p:sldId id="320" r:id="rId17"/>
    <p:sldId id="318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48" autoAdjust="0"/>
    <p:restoredTop sz="96081" autoAdjust="0"/>
  </p:normalViewPr>
  <p:slideViewPr>
    <p:cSldViewPr snapToGrid="0" snapToObjects="1">
      <p:cViewPr varScale="1">
        <p:scale>
          <a:sx n="79" d="100"/>
          <a:sy n="79" d="100"/>
        </p:scale>
        <p:origin x="1446" y="51"/>
      </p:cViewPr>
      <p:guideLst>
        <p:guide orient="horz" pos="2160"/>
        <p:guide pos="285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B0FA47-8B15-437F-B746-4611B2E50E7E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FC3B5-3211-45B9-A75F-21C4D8AB7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76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994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63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041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F49CF-8547-49DF-88E7-9F510D72EB89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0724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B8423-A942-414A-81E2-70AE951EF2EC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86471"/>
            <a:ext cx="9144000" cy="57152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V="1">
            <a:off x="0" y="896533"/>
            <a:ext cx="9144000" cy="8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E5266-EF84-43BD-9614-46A668BF9FA8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DE407-9099-423E-B718-368664AD892D}" type="datetime1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5BD5-387B-4EDE-B245-44A773DECF5D}" type="datetime1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508B2-DD62-4425-B44C-A2D6E84B262B}" type="datetime1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DE6-FAEB-400F-925E-4CAE720D7287}" type="datetime1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EAE11-4E78-47E3-B5A0-31AC50D4FD6E}" type="datetime1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4749C-6E2D-4B99-88AC-1A112FB0E837}" type="datetime1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B539B-E4C8-4B47-9CA7-FC92BE2456C7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508-AE16-4E80-8733-2BB6E2E36590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89729B-1D4D-4244-ADC3-03C9911EA2FC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4312" y="1871434"/>
            <a:ext cx="8540321" cy="2641212"/>
          </a:xfrm>
        </p:spPr>
        <p:txBody>
          <a:bodyPr>
            <a:normAutofit fontScale="90000"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  <a:br>
              <a:rPr lang="en-US" sz="1800">
                <a:effectLst/>
                <a:latin typeface="Time new roman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vi-VN" sz="180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  <a:br>
              <a:rPr lang="en-US" sz="1800">
                <a:effectLst/>
                <a:latin typeface="Time new roman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vi-VN" sz="3100" b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sz="3100" b="1" cap="all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Xây dựng website quản lý Đồ án </a:t>
            </a:r>
            <a:br>
              <a:rPr lang="en-US" sz="3100" b="1">
                <a:solidFill>
                  <a:schemeClr val="tx2"/>
                </a:solidFill>
                <a:effectLst/>
                <a:latin typeface="Time new roman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vi-VN" sz="3100" b="1" cap="all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chuyên ngành cho sinh viên Khoa</a:t>
            </a:r>
            <a:br>
              <a:rPr lang="en-US" sz="3100" b="1">
                <a:solidFill>
                  <a:schemeClr val="tx2"/>
                </a:solidFill>
                <a:effectLst/>
                <a:latin typeface="Time new roman"/>
                <a:ea typeface="SimSun" panose="02010600030101010101" pitchFamily="2" charset="-122"/>
                <a:cs typeface="Times New Roman" panose="02020603050405020304" pitchFamily="18" charset="0"/>
              </a:rPr>
            </a:br>
            <a:r>
              <a:rPr lang="vi-VN" sz="3100" b="1" cap="all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công nghệ thông tin</a:t>
            </a:r>
            <a:br>
              <a:rPr lang="en-US" sz="3100" b="1">
                <a:solidFill>
                  <a:schemeClr val="tx2"/>
                </a:solidFill>
                <a:effectLst/>
                <a:latin typeface="Time new roman"/>
                <a:ea typeface="SimSun" panose="02010600030101010101" pitchFamily="2" charset="-122"/>
                <a:cs typeface="Times New Roman" panose="02020603050405020304" pitchFamily="18" charset="0"/>
              </a:rPr>
            </a:br>
            <a:endParaRPr lang="en-US" sz="73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43599"/>
            <a:ext cx="9144000" cy="914401"/>
          </a:xfrm>
          <a:prstGeom prst="rect">
            <a:avLst/>
          </a:prstGeom>
        </p:spPr>
      </p:pic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300"/>
              <a:t>1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CC5E03BE-4EF7-6F87-B0CE-1C4BF12E2198}"/>
              </a:ext>
            </a:extLst>
          </p:cNvPr>
          <p:cNvSpPr/>
          <p:nvPr/>
        </p:nvSpPr>
        <p:spPr>
          <a:xfrm>
            <a:off x="2127564" y="280657"/>
            <a:ext cx="3793402" cy="12190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761C0AD2-9551-DDAD-F74D-D0CAD54BFC82}"/>
              </a:ext>
            </a:extLst>
          </p:cNvPr>
          <p:cNvSpPr txBox="1"/>
          <p:nvPr/>
        </p:nvSpPr>
        <p:spPr>
          <a:xfrm>
            <a:off x="1511491" y="454802"/>
            <a:ext cx="6425818" cy="1660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vi-VN" sz="2800" b="1">
                <a:solidFill>
                  <a:srgbClr val="FF0000"/>
                </a:solidFill>
                <a:latin typeface="Time new roman"/>
                <a:ea typeface="SimSun" panose="02010600030101010101" pitchFamily="2" charset="-122"/>
                <a:cs typeface="Times New Roman" panose="02020603050405020304" pitchFamily="18" charset="0"/>
              </a:rPr>
              <a:t>TRƯỜNG ĐẠI HỌC TRÀ VINH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vi-VN" sz="2800" b="1">
                <a:solidFill>
                  <a:srgbClr val="FF0000"/>
                </a:solidFill>
                <a:latin typeface="Time new roman"/>
                <a:ea typeface="SimSun" panose="02010600030101010101" pitchFamily="2" charset="-122"/>
                <a:cs typeface="Times New Roman" panose="02020603050405020304" pitchFamily="18" charset="0"/>
              </a:rPr>
              <a:t>TRƯỜNG</a:t>
            </a:r>
            <a:r>
              <a:rPr lang="en-US" sz="2800" b="1">
                <a:solidFill>
                  <a:srgbClr val="FF0000"/>
                </a:solidFill>
                <a:effectLst/>
                <a:latin typeface="Time new roman"/>
                <a:ea typeface="SimSun" panose="02010600030101010101" pitchFamily="2" charset="-122"/>
                <a:cs typeface="Times New Roman" panose="02020603050405020304" pitchFamily="18" charset="0"/>
              </a:rPr>
              <a:t> KỸ THUẬT VÀ CÔNG NGHỆ</a:t>
            </a:r>
            <a:endParaRPr lang="en-US" sz="2800">
              <a:solidFill>
                <a:srgbClr val="FF0000"/>
              </a:solidFill>
              <a:effectLst/>
              <a:latin typeface="Time new roman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>
                <a:solidFill>
                  <a:srgbClr val="FF0000"/>
                </a:solidFill>
                <a:effectLst/>
                <a:latin typeface="Time new roman"/>
                <a:ea typeface="SimSun" panose="02010600030101010101" pitchFamily="2" charset="-122"/>
                <a:cs typeface="Times New Roman" panose="02020603050405020304" pitchFamily="18" charset="0"/>
              </a:rPr>
              <a:t>KHOA CÔNG NGHỆ THÔNG TIN</a:t>
            </a:r>
            <a:endParaRPr lang="en-US" sz="2400">
              <a:solidFill>
                <a:srgbClr val="FF0000"/>
              </a:solidFill>
              <a:effectLst/>
              <a:latin typeface="Time new roman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AutoShape 2">
            <a:extLst>
              <a:ext uri="{FF2B5EF4-FFF2-40B4-BE49-F238E27FC236}">
                <a16:creationId xmlns:a16="http://schemas.microsoft.com/office/drawing/2014/main" id="{1265BA08-0A5A-07FF-DDC8-7A397C6AC2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" name="Hình ảnh 29" descr="Ảnh có chứa biểu tượng, Phông chữ, vòng tròn, Nhãn hiệu&#10;&#10;Mô tả được tạo tự động">
            <a:extLst>
              <a:ext uri="{FF2B5EF4-FFF2-40B4-BE49-F238E27FC236}">
                <a16:creationId xmlns:a16="http://schemas.microsoft.com/office/drawing/2014/main" id="{BFC63A39-1E96-AB6E-B205-BF439D3CF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12" y="99536"/>
            <a:ext cx="1400175" cy="1400175"/>
          </a:xfrm>
          <a:prstGeom prst="rect">
            <a:avLst/>
          </a:prstGeom>
        </p:spPr>
      </p:pic>
      <p:graphicFrame>
        <p:nvGraphicFramePr>
          <p:cNvPr id="43" name="Bảng 42">
            <a:extLst>
              <a:ext uri="{FF2B5EF4-FFF2-40B4-BE49-F238E27FC236}">
                <a16:creationId xmlns:a16="http://schemas.microsoft.com/office/drawing/2014/main" id="{EAAE4C88-B470-BDD6-67CC-E199BF325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396303"/>
              </p:ext>
            </p:extLst>
          </p:nvPr>
        </p:nvGraphicFramePr>
        <p:xfrm>
          <a:off x="838200" y="3630727"/>
          <a:ext cx="7293166" cy="1906715"/>
        </p:xfrm>
        <a:graphic>
          <a:graphicData uri="http://schemas.openxmlformats.org/drawingml/2006/table">
            <a:tbl>
              <a:tblPr firstRow="1" firstCol="1" bandRow="1"/>
              <a:tblGrid>
                <a:gridCol w="3430690">
                  <a:extLst>
                    <a:ext uri="{9D8B030D-6E8A-4147-A177-3AD203B41FA5}">
                      <a16:colId xmlns:a16="http://schemas.microsoft.com/office/drawing/2014/main" val="1501852924"/>
                    </a:ext>
                  </a:extLst>
                </a:gridCol>
                <a:gridCol w="3862476">
                  <a:extLst>
                    <a:ext uri="{9D8B030D-6E8A-4147-A177-3AD203B41FA5}">
                      <a16:colId xmlns:a16="http://schemas.microsoft.com/office/drawing/2014/main" val="19682488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vi-VN" sz="1800" b="0" i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Giáo viên hướng dẫn</a:t>
                      </a:r>
                      <a:endParaRPr lang="en-US" sz="1800" b="0">
                        <a:effectLst/>
                        <a:latin typeface="Time new roman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vi-VN" sz="1800" b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TS. Đoàn Phước Miền</a:t>
                      </a:r>
                      <a:endParaRPr lang="en-US" sz="1800" b="1">
                        <a:effectLst/>
                        <a:latin typeface="Time new roman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vi-VN" sz="1800" b="1" i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Sinh viên thực hiện:</a:t>
                      </a:r>
                      <a:endParaRPr lang="en-US" sz="1800" b="1">
                        <a:effectLst/>
                        <a:latin typeface="Time new roman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vi-VN" sz="1800" b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Họ tên: </a:t>
                      </a:r>
                      <a:r>
                        <a:rPr lang="vi-VN" sz="1800" b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Nguyễn Đinh Tuấn Khoa</a:t>
                      </a:r>
                      <a:endParaRPr lang="en-US" sz="1800" b="1">
                        <a:effectLst/>
                        <a:latin typeface="Time new roman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vi-VN" sz="1800" b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Mã số sinh viên: </a:t>
                      </a:r>
                      <a:r>
                        <a:rPr lang="vi-VN" sz="1800" b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110122094</a:t>
                      </a:r>
                      <a:endParaRPr lang="en-US" sz="1800" b="1">
                        <a:effectLst/>
                        <a:latin typeface="Time new roman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vi-VN" sz="1800" b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Lớp: </a:t>
                      </a:r>
                      <a:r>
                        <a:rPr lang="vi-VN" sz="1800" b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DA22TTD</a:t>
                      </a:r>
                      <a:endParaRPr lang="en-US" sz="1800" b="1">
                        <a:effectLst/>
                        <a:latin typeface="Time new roman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79764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32A6DE0-91CF-D268-7A16-54F5AA45D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600433"/>
          </a:xfrm>
        </p:spPr>
        <p:txBody>
          <a:bodyPr/>
          <a:lstStyle/>
          <a:p>
            <a:r>
              <a:rPr lang="vi-VN" sz="2400" dirty="0">
                <a:latin typeface="Arial (Body)"/>
              </a:rPr>
              <a:t>Đề tài: Ứng dụng lịch sự kiện cộng đồng cho người lớn tuổi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4F313002-9ADB-C53C-3066-F3CB1E154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b="1" dirty="0"/>
              <a:t>Lý do </a:t>
            </a:r>
            <a:r>
              <a:rPr lang="en-US" b="1" dirty="0" err="1"/>
              <a:t>chọn</a:t>
            </a:r>
            <a:r>
              <a:rPr lang="en-US" b="1" dirty="0"/>
              <a:t> </a:t>
            </a:r>
            <a:r>
              <a:rPr lang="en-US" b="1" dirty="0" err="1"/>
              <a:t>đề</a:t>
            </a:r>
            <a:r>
              <a:rPr lang="en-US" b="1" dirty="0"/>
              <a:t> </a:t>
            </a:r>
            <a:r>
              <a:rPr lang="en-US" b="1" dirty="0" err="1"/>
              <a:t>tài</a:t>
            </a:r>
            <a:endParaRPr lang="en-US" b="1" dirty="0"/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b="1" dirty="0" err="1"/>
              <a:t>Mục</a:t>
            </a:r>
            <a:r>
              <a:rPr lang="en-US" b="1" dirty="0"/>
              <a:t> </a:t>
            </a:r>
            <a:r>
              <a:rPr lang="en-US" b="1" dirty="0" err="1"/>
              <a:t>tiêu</a:t>
            </a:r>
            <a:r>
              <a:rPr lang="en-US" b="1" dirty="0"/>
              <a:t> </a:t>
            </a:r>
            <a:r>
              <a:rPr lang="en-US" b="1" dirty="0" err="1"/>
              <a:t>nghiên</a:t>
            </a:r>
            <a:r>
              <a:rPr lang="en-US" b="1" dirty="0"/>
              <a:t> </a:t>
            </a:r>
            <a:r>
              <a:rPr lang="en-US" b="1" dirty="0" err="1"/>
              <a:t>cứu</a:t>
            </a:r>
            <a:endParaRPr lang="en-US" b="1" dirty="0"/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b="1" dirty="0" err="1"/>
              <a:t>Đối</a:t>
            </a:r>
            <a:r>
              <a:rPr lang="en-US" b="1" dirty="0"/>
              <a:t> </a:t>
            </a:r>
            <a:r>
              <a:rPr lang="en-US" b="1" dirty="0" err="1"/>
              <a:t>tượng</a:t>
            </a:r>
            <a:r>
              <a:rPr lang="en-US" b="1" dirty="0"/>
              <a:t> </a:t>
            </a:r>
            <a:r>
              <a:rPr lang="en-US" b="1" dirty="0" err="1"/>
              <a:t>nghiên</a:t>
            </a:r>
            <a:r>
              <a:rPr lang="en-US" b="1" dirty="0"/>
              <a:t> </a:t>
            </a:r>
            <a:r>
              <a:rPr lang="en-US" b="1" dirty="0" err="1"/>
              <a:t>cứu</a:t>
            </a:r>
            <a:endParaRPr lang="en-US" b="1" dirty="0"/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b="1" dirty="0"/>
              <a:t>Phạm vi </a:t>
            </a:r>
            <a:r>
              <a:rPr lang="en-US" b="1" dirty="0" err="1"/>
              <a:t>nghiên</a:t>
            </a:r>
            <a:r>
              <a:rPr lang="en-US" b="1" dirty="0"/>
              <a:t> </a:t>
            </a:r>
            <a:r>
              <a:rPr lang="en-US" b="1" dirty="0" err="1"/>
              <a:t>cứu</a:t>
            </a:r>
            <a:endParaRPr lang="en-US" b="1" dirty="0"/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b="1" dirty="0"/>
              <a:t>Phương </a:t>
            </a:r>
            <a:r>
              <a:rPr lang="en-US" b="1" dirty="0" err="1"/>
              <a:t>pháp</a:t>
            </a:r>
            <a:r>
              <a:rPr lang="en-US" b="1" dirty="0"/>
              <a:t> </a:t>
            </a:r>
            <a:r>
              <a:rPr lang="en-US" b="1" dirty="0" err="1"/>
              <a:t>nghiên</a:t>
            </a:r>
            <a:r>
              <a:rPr lang="en-US" b="1" dirty="0"/>
              <a:t> </a:t>
            </a:r>
            <a:r>
              <a:rPr lang="en-US" b="1" dirty="0" err="1"/>
              <a:t>cứu</a:t>
            </a:r>
            <a:endParaRPr lang="en-US" b="1" dirty="0"/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quả</a:t>
            </a:r>
            <a:r>
              <a:rPr lang="en-US" b="1" dirty="0"/>
              <a:t> </a:t>
            </a:r>
            <a:r>
              <a:rPr lang="en-US" b="1" err="1"/>
              <a:t>thử</a:t>
            </a:r>
            <a:r>
              <a:rPr lang="en-US" b="1"/>
              <a:t> nghiệm</a:t>
            </a:r>
            <a:endParaRPr lang="vi-VN" b="1"/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vi-VN" b="1"/>
              <a:t>Thảo luận</a:t>
            </a:r>
            <a:endParaRPr lang="en-US" b="1" dirty="0"/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vi-VN" b="1"/>
              <a:t>Kết luận</a:t>
            </a:r>
            <a:endParaRPr lang="en-US" b="1" dirty="0"/>
          </a:p>
          <a:p>
            <a:pPr marL="0" indent="0">
              <a:buNone/>
            </a:pPr>
            <a:endParaRPr lang="vi-VN" dirty="0">
              <a:latin typeface="+mj-lt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30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05932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AA31DB6-FA1C-05AA-EFE0-7D8E6A909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348837"/>
            <a:ext cx="8229600" cy="507240"/>
          </a:xfrm>
        </p:spPr>
        <p:txBody>
          <a:bodyPr/>
          <a:lstStyle/>
          <a:p>
            <a:r>
              <a:rPr lang="vi-VN" sz="2400">
                <a:latin typeface="Arial (Body)"/>
              </a:rPr>
              <a:t>1. </a:t>
            </a:r>
            <a:r>
              <a:rPr lang="en-US" sz="2400">
                <a:latin typeface="Arial (Body)"/>
              </a:rPr>
              <a:t>Lý do chọn đề tài</a:t>
            </a:r>
            <a:endParaRPr lang="vi-VN" sz="2400" dirty="0">
              <a:latin typeface="Arial (Body)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D4308F8-9145-166C-7089-9D7C56E3B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79" y="868252"/>
            <a:ext cx="4886325" cy="4525963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vi-VN" b="1" i="0">
                <a:solidFill>
                  <a:srgbClr val="1A1C1E"/>
                </a:solidFill>
                <a:effectLst/>
                <a:latin typeface="+mj-lt"/>
              </a:rPr>
              <a:t>Thực trạng:</a:t>
            </a:r>
            <a:endParaRPr lang="vi-VN" b="0" i="0">
              <a:solidFill>
                <a:srgbClr val="1A1C1E"/>
              </a:solidFill>
              <a:effectLst/>
              <a:latin typeface="+mj-l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vi-VN" b="0" i="0">
                <a:solidFill>
                  <a:srgbClr val="1A1C1E"/>
                </a:solidFill>
                <a:effectLst/>
                <a:latin typeface="+mj-lt"/>
              </a:rPr>
              <a:t>Quản lý đề tài chuyên ngành thủ công qua Excel, giấy tờ, email, Zalo.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vi-VN" b="0" i="0">
                <a:solidFill>
                  <a:srgbClr val="1A1C1E"/>
                </a:solidFill>
                <a:effectLst/>
                <a:latin typeface="+mj-lt"/>
              </a:rPr>
              <a:t>Dữ liệu rời rạc, khó tổng hợp, dễ thất lạc.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vi-VN" b="0" i="0">
                <a:solidFill>
                  <a:srgbClr val="1A1C1E"/>
                </a:solidFill>
                <a:effectLst/>
                <a:latin typeface="+mj-lt"/>
              </a:rPr>
              <a:t>Khó theo dõi tiến độ sinh viên và tương tác giữa các bên.</a:t>
            </a:r>
          </a:p>
          <a:p>
            <a:pPr marL="0" indent="0" algn="l">
              <a:buNone/>
            </a:pPr>
            <a:r>
              <a:rPr lang="vi-VN" b="1" i="0">
                <a:solidFill>
                  <a:srgbClr val="1A1C1E"/>
                </a:solidFill>
                <a:effectLst/>
                <a:latin typeface="+mj-lt"/>
              </a:rPr>
              <a:t>Giải pháp:</a:t>
            </a:r>
            <a:endParaRPr lang="vi-VN" b="0" i="0">
              <a:solidFill>
                <a:srgbClr val="1A1C1E"/>
              </a:solidFill>
              <a:effectLst/>
              <a:latin typeface="+mj-l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vi-VN" b="0" i="0">
                <a:solidFill>
                  <a:srgbClr val="1A1C1E"/>
                </a:solidFill>
                <a:effectLst/>
                <a:latin typeface="+mj-lt"/>
              </a:rPr>
              <a:t>Xây dựng hệ thống Website quản lý tập trung.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vi-VN" b="0" i="0">
                <a:solidFill>
                  <a:srgbClr val="1A1C1E"/>
                </a:solidFill>
                <a:effectLst/>
                <a:latin typeface="+mj-lt"/>
              </a:rPr>
              <a:t>Số hóa quy trình từ đăng ký đến nộp bài.</a:t>
            </a: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vi-VN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2400" b="1"/>
              <a:t>3</a:t>
            </a:r>
            <a:endParaRPr lang="en-US" sz="1300" b="1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3A70098E-BCD2-3D17-DF23-704DAA86C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025" y="1102188"/>
            <a:ext cx="4055343" cy="478365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136754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F8CDDD12-3B5C-F030-53FE-230973B93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525982"/>
            <a:ext cx="3212237" cy="1200361"/>
          </a:xfrm>
        </p:spPr>
        <p:txBody>
          <a:bodyPr anchor="b">
            <a:normAutofit/>
          </a:bodyPr>
          <a:lstStyle/>
          <a:p>
            <a:r>
              <a:rPr lang="en-US" sz="3100"/>
              <a:t>2. Mục tiêu nghiên cứu</a:t>
            </a:r>
            <a:endParaRPr lang="vi-VN" sz="31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399" y="1944913"/>
            <a:ext cx="30175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ỗ dành sẵn cho Nội dung 4">
            <a:extLst>
              <a:ext uri="{FF2B5EF4-FFF2-40B4-BE49-F238E27FC236}">
                <a16:creationId xmlns:a16="http://schemas.microsoft.com/office/drawing/2014/main" id="{45071C63-3186-01B6-05DF-86AB3E620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799" y="2031101"/>
            <a:ext cx="3212238" cy="3511943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vi-VN" sz="1500"/>
              <a:t> </a:t>
            </a:r>
            <a:r>
              <a:rPr lang="vi-VN" sz="1500" b="1"/>
              <a:t>Phạm vi nghiên cứu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vi-VN" sz="1500"/>
              <a:t>Mục tiêu: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vi-VN" sz="1500"/>
              <a:t>Xây dựng hệ thống hỗ trợ 3 đối tượng: Admin, Giảng viên, Sinh viên.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vi-VN" sz="1500"/>
              <a:t>Quản lý đề tài chuyên nghành.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vi-VN" sz="1500"/>
              <a:t>Tăng tính minh bạch, chuyên nghiệp và giảm tải công việc thủ công.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vi-VN" sz="1500"/>
              <a:t>Phạm vi: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vi-VN" sz="1500"/>
              <a:t>Áp dụng cho Đồ án chuyên ngành khoa CNTT.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vi-VN" sz="1500"/>
              <a:t>Tập trung vào quản lý tài khoản, đề tài, tiến độ và nộp bài.</a:t>
            </a:r>
          </a:p>
          <a:p>
            <a:pPr>
              <a:lnSpc>
                <a:spcPct val="90000"/>
              </a:lnSpc>
            </a:pPr>
            <a:endParaRPr lang="en-US" sz="15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61965" y="6072626"/>
            <a:ext cx="740664" cy="1155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6109" y="1694387"/>
            <a:ext cx="740664" cy="88751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2594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Hình ảnh 14">
            <a:extLst>
              <a:ext uri="{FF2B5EF4-FFF2-40B4-BE49-F238E27FC236}">
                <a16:creationId xmlns:a16="http://schemas.microsoft.com/office/drawing/2014/main" id="{D63779FC-E4DE-8E58-5C60-6D033D2C8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769" y="1793387"/>
            <a:ext cx="4788487" cy="34237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3028950" y="649224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4</a:t>
            </a:r>
          </a:p>
        </p:txBody>
      </p:sp>
      <p:sp>
        <p:nvSpPr>
          <p:cNvPr id="9" name="AutoShape 5" descr="active-image">
            <a:extLst>
              <a:ext uri="{FF2B5EF4-FFF2-40B4-BE49-F238E27FC236}">
                <a16:creationId xmlns:a16="http://schemas.microsoft.com/office/drawing/2014/main" id="{CF358AA9-0664-E13F-036D-4C3BFAA16D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2769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2A64A12-37A9-DC4E-F7FE-5FFEE88A3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2400">
                <a:latin typeface="Arial (Body)"/>
              </a:rPr>
              <a:t> </a:t>
            </a:r>
            <a:r>
              <a:rPr lang="vi-VN" sz="1600" b="1" i="0">
                <a:solidFill>
                  <a:srgbClr val="1A1C1E"/>
                </a:solidFill>
                <a:effectLst/>
                <a:latin typeface="Inter"/>
              </a:rPr>
              <a:t> </a:t>
            </a:r>
            <a:r>
              <a:rPr kumimoji="0" lang="vi-VN" sz="2400" b="1" i="0" u="none" strike="noStrike" kern="1200" cap="none" spc="0" normalizeH="0" baseline="0" noProof="0">
                <a:ln>
                  <a:noFill/>
                </a:ln>
                <a:solidFill>
                  <a:srgbClr val="1A1C1E"/>
                </a:solidFill>
                <a:effectLst/>
                <a:uLnTx/>
                <a:uFillTx/>
                <a:latin typeface="Inter"/>
                <a:ea typeface="+mn-ea"/>
                <a:cs typeface="Arial" panose="020B0604020202020204" pitchFamily="34" charset="0"/>
              </a:rPr>
              <a:t> Cơ sở lý thuyết &amp; Công nghệ sử dụng</a:t>
            </a:r>
            <a:br>
              <a:rPr kumimoji="0" lang="vi-VN" sz="2400" b="1" i="0" u="none" strike="noStrike" kern="1200" cap="none" spc="0" normalizeH="0" baseline="0" noProof="0">
                <a:ln>
                  <a:noFill/>
                </a:ln>
                <a:solidFill>
                  <a:srgbClr val="1A1C1E"/>
                </a:solidFill>
                <a:effectLst/>
                <a:uLnTx/>
                <a:uFillTx/>
                <a:latin typeface="Inter"/>
                <a:ea typeface="+mn-ea"/>
                <a:cs typeface="Arial" panose="020B0604020202020204" pitchFamily="34" charset="0"/>
              </a:rPr>
            </a:br>
            <a:endParaRPr lang="vi-VN" sz="2400" dirty="0">
              <a:latin typeface="Arial (Body)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B262B026-EB1A-858E-63D7-4D2ABE0A4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4662"/>
            <a:ext cx="4709160" cy="5188903"/>
          </a:xfrm>
        </p:spPr>
        <p:txBody>
          <a:bodyPr/>
          <a:lstStyle/>
          <a:p>
            <a:pPr marL="0" indent="0" algn="l">
              <a:buNone/>
            </a:pPr>
            <a:r>
              <a:rPr lang="vi-VN" sz="1800" b="1" i="0">
                <a:solidFill>
                  <a:srgbClr val="1A1C1E"/>
                </a:solidFill>
                <a:effectLst/>
                <a:latin typeface="Time s New Roman"/>
              </a:rPr>
              <a:t>Mô hình kiến trúc:</a:t>
            </a:r>
            <a:r>
              <a:rPr lang="vi-VN" sz="1800" b="0" i="0">
                <a:solidFill>
                  <a:srgbClr val="1A1C1E"/>
                </a:solidFill>
                <a:effectLst/>
                <a:latin typeface="Time s New Roman"/>
              </a:rPr>
              <a:t> MVC (Model - View - Controller).</a:t>
            </a:r>
          </a:p>
          <a:p>
            <a:pPr marL="0" indent="0" algn="l">
              <a:buNone/>
            </a:pPr>
            <a:r>
              <a:rPr lang="vi-VN" sz="1800" b="1" i="0">
                <a:solidFill>
                  <a:srgbClr val="1A1C1E"/>
                </a:solidFill>
                <a:effectLst/>
                <a:latin typeface="Time s New Roman"/>
              </a:rPr>
              <a:t>Frontend (Giao diện):</a:t>
            </a:r>
            <a:endParaRPr lang="vi-VN" sz="1800" b="0" i="0">
              <a:solidFill>
                <a:srgbClr val="1A1C1E"/>
              </a:solidFill>
              <a:effectLst/>
              <a:latin typeface="Time s New Roman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vi-VN" sz="1800" b="0" i="0">
                <a:solidFill>
                  <a:srgbClr val="1A1C1E"/>
                </a:solidFill>
                <a:effectLst/>
                <a:latin typeface="Time s New Roman"/>
              </a:rPr>
              <a:t>HTML5, CSS3, JavaScript.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vi-VN" sz="1800" b="0" i="0">
                <a:solidFill>
                  <a:srgbClr val="1A1C1E"/>
                </a:solidFill>
                <a:effectLst/>
                <a:latin typeface="Time s New Roman"/>
              </a:rPr>
              <a:t>Bootstrap 5 (Responsive - tương thích đa thiết bị).</a:t>
            </a:r>
          </a:p>
          <a:p>
            <a:pPr marL="0" indent="0" algn="l">
              <a:buNone/>
            </a:pPr>
            <a:r>
              <a:rPr lang="vi-VN" sz="1800" b="1" i="0">
                <a:solidFill>
                  <a:srgbClr val="1A1C1E"/>
                </a:solidFill>
                <a:effectLst/>
                <a:latin typeface="Time s New Roman"/>
              </a:rPr>
              <a:t>Backend (Xử lý):</a:t>
            </a:r>
            <a:endParaRPr lang="vi-VN" sz="1800" b="0" i="0">
              <a:solidFill>
                <a:srgbClr val="1A1C1E"/>
              </a:solidFill>
              <a:effectLst/>
              <a:latin typeface="Time s New Roman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vi-VN" sz="1800" b="0" i="0">
                <a:solidFill>
                  <a:srgbClr val="1A1C1E"/>
                </a:solidFill>
                <a:effectLst/>
                <a:latin typeface="Time s New Roman"/>
              </a:rPr>
              <a:t>Ngôn ngữ: PHP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vi-VN" sz="1800" b="0" i="0">
                <a:solidFill>
                  <a:srgbClr val="1A1C1E"/>
                </a:solidFill>
                <a:effectLst/>
                <a:latin typeface="Time s New Roman"/>
              </a:rPr>
              <a:t>Web Server: Apache (XAMPP).</a:t>
            </a:r>
          </a:p>
          <a:p>
            <a:pPr marL="0" indent="0" algn="l">
              <a:buNone/>
            </a:pPr>
            <a:r>
              <a:rPr lang="vi-VN" sz="1800" b="1" i="0">
                <a:solidFill>
                  <a:srgbClr val="1A1C1E"/>
                </a:solidFill>
                <a:effectLst/>
                <a:latin typeface="Time s New Roman"/>
              </a:rPr>
              <a:t>Cơ sở dữ liệu:</a:t>
            </a:r>
            <a:r>
              <a:rPr lang="vi-VN" sz="1800" b="0" i="0">
                <a:solidFill>
                  <a:srgbClr val="1A1C1E"/>
                </a:solidFill>
                <a:effectLst/>
                <a:latin typeface="Time s New Roman"/>
              </a:rPr>
              <a:t> MySQL (Lưu trữ và truy vấn dữ liệu quan hệ).</a:t>
            </a:r>
          </a:p>
          <a:p>
            <a:endParaRPr lang="vi-VN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300"/>
              <a:t>5</a:t>
            </a: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8693FD81-C2B5-C870-98F8-BF37278DF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5728" y="974662"/>
            <a:ext cx="4598272" cy="403005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96682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229B22F-7521-8F24-1F11-1F2D539C4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924" y="488572"/>
            <a:ext cx="8229600" cy="507240"/>
          </a:xfrm>
        </p:spPr>
        <p:txBody>
          <a:bodyPr/>
          <a:lstStyle/>
          <a:p>
            <a:br>
              <a:rPr lang="en-US" sz="1800" b="1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87DD0BF5-0555-D5C2-CF21-7F8227EE8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7424" y="6294436"/>
            <a:ext cx="2895600" cy="365125"/>
          </a:xfrm>
        </p:spPr>
        <p:txBody>
          <a:bodyPr/>
          <a:lstStyle/>
          <a:p>
            <a:r>
              <a:rPr lang="en-US"/>
              <a:t>1</a:t>
            </a: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2CBF3C9C-FF0F-9153-4997-9F36E7A005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3285" y="924303"/>
            <a:ext cx="3817074" cy="5445125"/>
          </a:xfrm>
          <a:prstGeom prst="rect">
            <a:avLst/>
          </a:prstGeom>
          <a:noFill/>
        </p:spPr>
      </p:pic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C0320442-8F9B-4B08-F312-29A749F3DA66}"/>
              </a:ext>
            </a:extLst>
          </p:cNvPr>
          <p:cNvSpPr txBox="1"/>
          <p:nvPr/>
        </p:nvSpPr>
        <p:spPr>
          <a:xfrm>
            <a:off x="2742842" y="135284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Time s New Roman"/>
              </a:rPr>
              <a:t> Mô hình Use Care </a:t>
            </a:r>
          </a:p>
        </p:txBody>
      </p:sp>
    </p:spTree>
    <p:extLst>
      <p:ext uri="{BB962C8B-B14F-4D97-AF65-F5344CB8AC3E}">
        <p14:creationId xmlns:p14="http://schemas.microsoft.com/office/powerpoint/2010/main" val="10218357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229B22F-7521-8F24-1F11-1F2D539C4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24" y="778254"/>
            <a:ext cx="8229600" cy="507240"/>
          </a:xfrm>
        </p:spPr>
        <p:txBody>
          <a:bodyPr/>
          <a:lstStyle/>
          <a:p>
            <a:r>
              <a:rPr lang="vi-VN" sz="4000" b="1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Sơ đồ Diagrame </a:t>
            </a:r>
            <a:br>
              <a:rPr lang="en-US" sz="4000" b="1" i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endParaRPr lang="en-US" sz="6600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87DD0BF5-0555-D5C2-CF21-7F8227EE8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244E2DAF-764B-2AEF-38A3-F2DFF39A8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268" y="1023778"/>
            <a:ext cx="5714061" cy="481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8248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229B22F-7521-8F24-1F11-1F2D539C4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386" y="328865"/>
            <a:ext cx="8229600" cy="507240"/>
          </a:xfrm>
        </p:spPr>
        <p:txBody>
          <a:bodyPr/>
          <a:lstStyle/>
          <a:p>
            <a:r>
              <a:rPr lang="vi-VN"/>
              <a:t>Sơ đồ  website</a:t>
            </a:r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87DD0BF5-0555-D5C2-CF21-7F8227EE8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45AA5296-52C6-F161-AD52-2DDEB9ECA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2221"/>
            <a:ext cx="9192372" cy="485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2684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674E663-6615-3503-9999-60B5B944C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4</a:t>
            </a:r>
            <a:r>
              <a:rPr lang="en-US" sz="2400"/>
              <a:t>. Phân tích hệ thống - Các tác nhân </a:t>
            </a:r>
            <a:endParaRPr lang="vi-VN" sz="240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300"/>
              <a:t>6</a:t>
            </a:r>
          </a:p>
        </p:txBody>
      </p:sp>
      <p:pic>
        <p:nvPicPr>
          <p:cNvPr id="5" name="Đồ họa 4" descr="User with solid fill">
            <a:extLst>
              <a:ext uri="{FF2B5EF4-FFF2-40B4-BE49-F238E27FC236}">
                <a16:creationId xmlns:a16="http://schemas.microsoft.com/office/drawing/2014/main" id="{1F86CF0C-2BC2-204D-5E11-35BC1D3EB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50977" y="1809260"/>
            <a:ext cx="1242045" cy="1242045"/>
          </a:xfrm>
          <a:prstGeom prst="rect">
            <a:avLst/>
          </a:prstGeom>
        </p:spPr>
      </p:pic>
      <p:pic>
        <p:nvPicPr>
          <p:cNvPr id="7" name="Đồ họa 6" descr="School boy outline">
            <a:extLst>
              <a:ext uri="{FF2B5EF4-FFF2-40B4-BE49-F238E27FC236}">
                <a16:creationId xmlns:a16="http://schemas.microsoft.com/office/drawing/2014/main" id="{2E54EC10-96CE-55C3-95B5-D6AD59182D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3918" y="1751148"/>
            <a:ext cx="1242046" cy="1242046"/>
          </a:xfrm>
          <a:prstGeom prst="rect">
            <a:avLst/>
          </a:prstGeom>
        </p:spPr>
      </p:pic>
      <p:pic>
        <p:nvPicPr>
          <p:cNvPr id="9" name="Đồ họa 8" descr="User Crown Male with solid fill">
            <a:extLst>
              <a:ext uri="{FF2B5EF4-FFF2-40B4-BE49-F238E27FC236}">
                <a16:creationId xmlns:a16="http://schemas.microsoft.com/office/drawing/2014/main" id="{C1DD384C-4889-1BF1-90FC-27CE9DC020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8235" y="1973082"/>
            <a:ext cx="914400" cy="914400"/>
          </a:xfrm>
          <a:prstGeom prst="rect">
            <a:avLst/>
          </a:prstGeom>
        </p:spPr>
      </p:pic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8920B4F5-BD78-81E6-C1A7-2F8549D84E32}"/>
              </a:ext>
            </a:extLst>
          </p:cNvPr>
          <p:cNvSpPr txBox="1"/>
          <p:nvPr/>
        </p:nvSpPr>
        <p:spPr>
          <a:xfrm>
            <a:off x="457200" y="2993194"/>
            <a:ext cx="3150870" cy="2039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vi-VN" sz="1400" b="1">
                <a:latin typeface="Time s New Roman"/>
              </a:rPr>
              <a:t>Admin (Trưởng khoa/Quản trị):</a:t>
            </a:r>
          </a:p>
          <a:p>
            <a:pPr marL="171450" indent="-1714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1200">
                <a:latin typeface="Time s New Roman"/>
              </a:rPr>
              <a:t>Quản lý người dùng, thiết lập thời gian (đợt đăng ký, nộp bài).</a:t>
            </a:r>
          </a:p>
          <a:p>
            <a:pPr marL="171450" indent="-1714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1200">
                <a:latin typeface="Time s New Roman"/>
              </a:rPr>
              <a:t>Duyệt đề tài giảng viên đề xuất.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1600">
                <a:latin typeface="Time s New Roman"/>
              </a:rPr>
              <a:t>Thống kê tổng quan.</a:t>
            </a:r>
            <a:endParaRPr lang="vi-VN" sz="1200">
              <a:latin typeface="Time s New Roman"/>
            </a:endParaRP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2E1590FA-8E77-CD94-2540-C7EE0C224CCC}"/>
              </a:ext>
            </a:extLst>
          </p:cNvPr>
          <p:cNvSpPr txBox="1"/>
          <p:nvPr/>
        </p:nvSpPr>
        <p:spPr>
          <a:xfrm>
            <a:off x="3897019" y="2993194"/>
            <a:ext cx="1870710" cy="2374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vi-VN" sz="1400" b="1">
                <a:latin typeface="Time s New Roman"/>
              </a:rPr>
              <a:t>Giảng viên (Teacher):</a:t>
            </a:r>
          </a:p>
          <a:p>
            <a:pPr marL="171450" indent="-1714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1100" b="1">
                <a:latin typeface="Time s New Roman"/>
              </a:rPr>
              <a:t>Đề xuất đề tài, quản lý sinh viên hướng dẫn.</a:t>
            </a:r>
          </a:p>
          <a:p>
            <a:pPr marL="171450" indent="-1714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1100" b="1">
                <a:latin typeface="Time s New Roman"/>
              </a:rPr>
              <a:t>Duyệt sinh viên đăng ký, theo dõi báo cáo tiến độ.</a:t>
            </a:r>
          </a:p>
          <a:p>
            <a:pPr marL="171450" indent="-1714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1100" b="1">
                <a:latin typeface="Time s New Roman"/>
              </a:rPr>
              <a:t>Gửi thông báo, Chat nhóm.</a:t>
            </a:r>
            <a:endParaRPr lang="en-US" b="1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94539CF-CBA8-9123-752F-60FA97D35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2399" y="15875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665B2D1B-83EE-1A53-AD13-BC2D05495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E02C1C42-4099-BE73-D159-C88B3F56D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7351" y="2993194"/>
            <a:ext cx="2254250" cy="18466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latin typeface="Arial" panose="020B0604020202020204" pitchFamily="34" charset="0"/>
              </a:rPr>
              <a:t>Sinh viên (Student):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</a:rPr>
              <a:t>Xem và đăng ký đề tài.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</a:rPr>
              <a:t>Báo cáo tiến độ hàng tuần.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</a:rPr>
              <a:t>Nộp báo cáo và link sản phẩm (Drive/Github).</a:t>
            </a:r>
          </a:p>
        </p:txBody>
      </p:sp>
    </p:spTree>
    <p:extLst>
      <p:ext uri="{BB962C8B-B14F-4D97-AF65-F5344CB8AC3E}">
        <p14:creationId xmlns:p14="http://schemas.microsoft.com/office/powerpoint/2010/main" val="1276274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ACD301D-DD42-DA08-DC87-116CA3A14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281816"/>
            <a:ext cx="8229600" cy="507240"/>
          </a:xfrm>
        </p:spPr>
        <p:txBody>
          <a:bodyPr/>
          <a:lstStyle/>
          <a:p>
            <a:r>
              <a:rPr lang="en-US" sz="2400"/>
              <a:t> Chức năng chính - Admin</a:t>
            </a:r>
            <a:br>
              <a:rPr lang="en-US" sz="2400"/>
            </a:br>
            <a:endParaRPr lang="vi-VN" sz="2400" dirty="0">
              <a:latin typeface="Arial (Body)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3192780" y="6356350"/>
            <a:ext cx="2895600" cy="365125"/>
          </a:xfrm>
        </p:spPr>
        <p:txBody>
          <a:bodyPr/>
          <a:lstStyle/>
          <a:p>
            <a:r>
              <a:rPr lang="en-US" sz="1300"/>
              <a:t>8</a:t>
            </a: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C145F875-7252-94BE-D1AC-3CFAC02B91FD}"/>
              </a:ext>
            </a:extLst>
          </p:cNvPr>
          <p:cNvSpPr txBox="1"/>
          <p:nvPr/>
        </p:nvSpPr>
        <p:spPr>
          <a:xfrm>
            <a:off x="3192780" y="1054609"/>
            <a:ext cx="499998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vi-VN" b="1" i="0">
                <a:solidFill>
                  <a:srgbClr val="1A1C1E"/>
                </a:solidFill>
                <a:effectLst/>
                <a:latin typeface="Inter"/>
              </a:rPr>
              <a:t> </a:t>
            </a:r>
            <a:r>
              <a:rPr lang="vi-VN" sz="2800" b="1" i="0">
                <a:solidFill>
                  <a:srgbClr val="1A1C1E"/>
                </a:solidFill>
                <a:effectLst/>
                <a:latin typeface="Time s New Roman"/>
              </a:rPr>
              <a:t>Chức năng chính - Admin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vi-VN" sz="2800" b="1" i="0">
                <a:solidFill>
                  <a:srgbClr val="1A1C1E"/>
                </a:solidFill>
                <a:effectLst/>
                <a:latin typeface="Time s New Roman"/>
              </a:rPr>
              <a:t>Dashboard:</a:t>
            </a:r>
            <a:r>
              <a:rPr lang="vi-VN" sz="2800" b="0" i="0">
                <a:solidFill>
                  <a:srgbClr val="1A1C1E"/>
                </a:solidFill>
                <a:effectLst/>
                <a:latin typeface="Time s New Roman"/>
              </a:rPr>
              <a:t> Thống kê số lượng SV, GV, Đề tài.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vi-VN" sz="2800" b="1" i="0">
                <a:solidFill>
                  <a:srgbClr val="1A1C1E"/>
                </a:solidFill>
                <a:effectLst/>
                <a:latin typeface="Time s New Roman"/>
              </a:rPr>
              <a:t>Cài đặt thời gian:</a:t>
            </a:r>
            <a:r>
              <a:rPr lang="vi-VN" sz="2800" b="0" i="0">
                <a:solidFill>
                  <a:srgbClr val="1A1C1E"/>
                </a:solidFill>
                <a:effectLst/>
                <a:latin typeface="Time s New Roman"/>
              </a:rPr>
              <a:t> Thiết lập các mốc thời gian (Mở/Khóa đăng ký tự động).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vi-VN" sz="2800" b="1" i="0">
                <a:solidFill>
                  <a:srgbClr val="1A1C1E"/>
                </a:solidFill>
                <a:effectLst/>
                <a:latin typeface="Time s New Roman"/>
              </a:rPr>
              <a:t>Quản lý người dùng:</a:t>
            </a:r>
            <a:r>
              <a:rPr lang="vi-VN" sz="2800" b="0" i="0">
                <a:solidFill>
                  <a:srgbClr val="1A1C1E"/>
                </a:solidFill>
                <a:effectLst/>
                <a:latin typeface="Time s New Roman"/>
              </a:rPr>
              <a:t> Thêm, sửa, xóa, cấp lại mật khẩu.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vi-VN" sz="2800" b="1" i="0">
                <a:solidFill>
                  <a:srgbClr val="1A1C1E"/>
                </a:solidFill>
                <a:effectLst/>
                <a:latin typeface="Time s New Roman"/>
              </a:rPr>
              <a:t>Quản lý bài nộp:</a:t>
            </a:r>
            <a:r>
              <a:rPr lang="vi-VN" sz="2800" b="0" i="0">
                <a:solidFill>
                  <a:srgbClr val="1A1C1E"/>
                </a:solidFill>
                <a:effectLst/>
                <a:latin typeface="Time s New Roman"/>
              </a:rPr>
              <a:t> Tổng hợp danh sách bài nộp của sinh viên.</a:t>
            </a:r>
          </a:p>
        </p:txBody>
      </p:sp>
      <p:pic>
        <p:nvPicPr>
          <p:cNvPr id="1026" name="Picture 2" descr="Admin Sign On Laptop Icon Stock Vector Stock Illustration - Download Image  Now - Administrator, Adult, Avatar - iStock">
            <a:extLst>
              <a:ext uri="{FF2B5EF4-FFF2-40B4-BE49-F238E27FC236}">
                <a16:creationId xmlns:a16="http://schemas.microsoft.com/office/drawing/2014/main" id="{1EAC4C00-3197-0E2C-703D-E7A751A3F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29" y="1701632"/>
            <a:ext cx="3294261" cy="3294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32168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12B4B6E-891F-5935-AB47-B8606DC81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54" y="439938"/>
            <a:ext cx="8229600" cy="507240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vi-VN" sz="3200">
                <a:latin typeface="+mj-lt"/>
              </a:rPr>
              <a:t>Chức năng chính - Giảng viên</a:t>
            </a:r>
            <a:br>
              <a:rPr lang="vi-VN" sz="3200">
                <a:latin typeface="+mj-lt"/>
              </a:rPr>
            </a:br>
            <a:endParaRPr lang="vi-VN" sz="3200" dirty="0">
              <a:latin typeface="+mj-lt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300"/>
              <a:t>7</a:t>
            </a: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FEE396F4-70E9-23B9-3979-D2D646F93D55}"/>
              </a:ext>
            </a:extLst>
          </p:cNvPr>
          <p:cNvSpPr txBox="1"/>
          <p:nvPr/>
        </p:nvSpPr>
        <p:spPr>
          <a:xfrm>
            <a:off x="3608148" y="947178"/>
            <a:ext cx="4572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vi-VN" sz="2400" b="1" i="0">
                <a:solidFill>
                  <a:srgbClr val="1A1C1E"/>
                </a:solidFill>
                <a:effectLst/>
                <a:latin typeface="Time s New Roman"/>
              </a:rPr>
              <a:t>Chức năng chính - Giảng viên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vi-VN" sz="2400" b="1" i="0">
                <a:solidFill>
                  <a:srgbClr val="1A1C1E"/>
                </a:solidFill>
                <a:effectLst/>
                <a:latin typeface="Time s New Roman"/>
              </a:rPr>
              <a:t>Quản lý đề tài:</a:t>
            </a:r>
            <a:r>
              <a:rPr lang="vi-VN" sz="2400" b="0" i="0">
                <a:solidFill>
                  <a:srgbClr val="1A1C1E"/>
                </a:solidFill>
                <a:effectLst/>
                <a:latin typeface="Time s New Roman"/>
              </a:rPr>
              <a:t> Tạo mới, chỉnh sửa, xóa đề tài.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vi-VN" sz="2400" b="1" i="0">
                <a:solidFill>
                  <a:srgbClr val="1A1C1E"/>
                </a:solidFill>
                <a:effectLst/>
                <a:latin typeface="Time s New Roman"/>
              </a:rPr>
              <a:t>Quản lý đăng ký:</a:t>
            </a:r>
            <a:r>
              <a:rPr lang="vi-VN" sz="2400" b="0" i="0">
                <a:solidFill>
                  <a:srgbClr val="1A1C1E"/>
                </a:solidFill>
                <a:effectLst/>
                <a:latin typeface="Time s New Roman"/>
              </a:rPr>
              <a:t> Duyệt hoặc từ chối sinh viên đăng ký.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vi-VN" sz="2400" b="1" i="0">
                <a:solidFill>
                  <a:srgbClr val="1A1C1E"/>
                </a:solidFill>
                <a:effectLst/>
                <a:latin typeface="Time s New Roman"/>
              </a:rPr>
              <a:t>Theo dõi tiến độ:</a:t>
            </a:r>
            <a:r>
              <a:rPr lang="vi-VN" sz="2400" b="0" i="0">
                <a:solidFill>
                  <a:srgbClr val="1A1C1E"/>
                </a:solidFill>
                <a:effectLst/>
                <a:latin typeface="Time s New Roman"/>
              </a:rPr>
              <a:t> Xem báo cáo tuần, đánh giá mức độ hoàn thành.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vi-VN" sz="2400" b="1" i="0">
                <a:solidFill>
                  <a:srgbClr val="1A1C1E"/>
                </a:solidFill>
                <a:effectLst/>
                <a:latin typeface="Time s New Roman"/>
              </a:rPr>
              <a:t>Tương tác:</a:t>
            </a:r>
            <a:endParaRPr lang="vi-VN" sz="2400" b="0" i="0">
              <a:solidFill>
                <a:srgbClr val="1A1C1E"/>
              </a:solidFill>
              <a:effectLst/>
              <a:latin typeface="Time s New Roman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vi-VN" sz="2400" b="0" i="0">
                <a:solidFill>
                  <a:srgbClr val="1A1C1E"/>
                </a:solidFill>
                <a:effectLst/>
                <a:latin typeface="Time s New Roman"/>
              </a:rPr>
              <a:t>Gửi thông báo chung/riêng.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vi-VN" sz="2400" b="1" i="0">
                <a:solidFill>
                  <a:srgbClr val="1A1C1E"/>
                </a:solidFill>
                <a:effectLst/>
                <a:latin typeface="Time s New Roman"/>
              </a:rPr>
              <a:t>Chatbot AI (Gemini):</a:t>
            </a:r>
            <a:r>
              <a:rPr lang="vi-VN" sz="2400" b="0" i="0">
                <a:solidFill>
                  <a:srgbClr val="1A1C1E"/>
                </a:solidFill>
                <a:effectLst/>
                <a:latin typeface="Time s New Roman"/>
              </a:rPr>
              <a:t> Hỗ trợ gợi ý đề tài, thống kê.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vi-VN" sz="2400" b="0" i="0">
                <a:solidFill>
                  <a:srgbClr val="1A1C1E"/>
                </a:solidFill>
                <a:effectLst/>
                <a:latin typeface="Time s New Roman"/>
              </a:rPr>
              <a:t>Chat nhóm trực tiếp với sinh viên.</a:t>
            </a:r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8C3222B8-1428-ADCF-0068-D071E7D6A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77" y="1568408"/>
            <a:ext cx="3128477" cy="3904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367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9ABFBF2-FBE4-FD9B-7116-0866EBF04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0676"/>
            <a:ext cx="8229600" cy="507240"/>
          </a:xfrm>
        </p:spPr>
        <p:txBody>
          <a:bodyPr/>
          <a:lstStyle/>
          <a:p>
            <a:r>
              <a:rPr lang="en-US" sz="2400"/>
              <a:t>Chức năng chính - Sinh viên</a:t>
            </a:r>
            <a:br>
              <a:rPr lang="en-US" sz="2400"/>
            </a:br>
            <a:r>
              <a:rPr lang="en-US" sz="2400"/>
              <a:t>s</a:t>
            </a:r>
            <a:endParaRPr lang="vi-VN" sz="2400" dirty="0">
              <a:latin typeface="Arial (Body)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300"/>
              <a:t>9</a:t>
            </a:r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EA6A15CE-4DF6-DD89-AC1F-CEFB7B56F239}"/>
              </a:ext>
            </a:extLst>
          </p:cNvPr>
          <p:cNvSpPr txBox="1"/>
          <p:nvPr/>
        </p:nvSpPr>
        <p:spPr>
          <a:xfrm>
            <a:off x="3754490" y="1251722"/>
            <a:ext cx="528050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latin typeface="Time  s New Roman"/>
              </a:rPr>
              <a:t>Chức năng chính - Sinh viên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>
                <a:latin typeface="Time  s New Roman"/>
              </a:rPr>
              <a:t>Đăng ký đề tài: Tìm kiếm, xem chi tiết và đăng ký (có kiểm tra trùng lặp/slot).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>
                <a:latin typeface="Time  s New Roman"/>
              </a:rPr>
              <a:t>Báo cáo tiến độ: Form báo cáo tuần, ghi nhận khó khăn/kết quả.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>
                <a:latin typeface="Time  s New Roman"/>
              </a:rPr>
              <a:t>Nộp bài: Upload link Google Drive, GitHub.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>
                <a:latin typeface="Time  s New Roman"/>
              </a:rPr>
              <a:t>Thông tin: Nhận thông báo từ GV, xem trạng thái phê duyệt.</a:t>
            </a:r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091EFF3E-0A24-7DFE-2898-4EEE86F6B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0077"/>
            <a:ext cx="3677845" cy="367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83100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8FA68-94A3-6312-E5E3-D9B2A303F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7058FB2-B35E-53EE-BE76-1DA84602C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88" y="94490"/>
            <a:ext cx="8229600" cy="5072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vi-VN" sz="2400">
                <a:latin typeface="Arial (Body)"/>
              </a:rPr>
              <a:t> Kết quả thực nghiệm </a:t>
            </a:r>
            <a:endParaRPr lang="vi-VN" sz="2400" dirty="0">
              <a:latin typeface="Arial (Body)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300"/>
              <a:t>10</a:t>
            </a: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1890C725-C5D4-A160-4B79-B852F1B04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2" y="990088"/>
            <a:ext cx="9095555" cy="530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9424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8FA68-94A3-6312-E5E3-D9B2A303F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7058FB2-B35E-53EE-BE76-1DA84602C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072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400" dirty="0" err="1">
                <a:latin typeface="Arial (Body)"/>
              </a:rPr>
              <a:t>Chân</a:t>
            </a:r>
            <a:r>
              <a:rPr lang="en-US" altLang="en-US" sz="2400" dirty="0">
                <a:latin typeface="Arial (Body)"/>
              </a:rPr>
              <a:t> dung </a:t>
            </a:r>
            <a:r>
              <a:rPr lang="en-US" altLang="en-US" sz="2400" dirty="0" err="1">
                <a:latin typeface="Arial (Body)"/>
              </a:rPr>
              <a:t>người</a:t>
            </a:r>
            <a:r>
              <a:rPr lang="en-US" altLang="en-US" sz="2400" dirty="0">
                <a:latin typeface="Arial (Body)"/>
              </a:rPr>
              <a:t> </a:t>
            </a:r>
            <a:r>
              <a:rPr lang="en-US" altLang="en-US" sz="2400" dirty="0" err="1">
                <a:latin typeface="Arial (Body)"/>
              </a:rPr>
              <a:t>dùng</a:t>
            </a:r>
            <a:r>
              <a:rPr lang="en-US" altLang="en-US" sz="2400" dirty="0">
                <a:latin typeface="Arial (Body)"/>
              </a:rPr>
              <a:t> – Personas</a:t>
            </a:r>
            <a:endParaRPr lang="vi-VN" sz="2400" dirty="0">
              <a:latin typeface="Arial (Body)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300"/>
              <a:t>10</a:t>
            </a:r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1FBBCF4C-3278-F72A-052F-6BDDCDA7F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7282"/>
            <a:ext cx="9144000" cy="5369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022174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8FA68-94A3-6312-E5E3-D9B2A303F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7058FB2-B35E-53EE-BE76-1DA84602C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072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400">
                <a:latin typeface="Arial (Body)"/>
              </a:rPr>
              <a:t>CHATBOT HỖ TRỢ GIẢNG VIÊN</a:t>
            </a:r>
            <a:endParaRPr lang="vi-VN" sz="2400" dirty="0">
              <a:latin typeface="Arial (Body)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300"/>
              <a:t>10</a:t>
            </a: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7CEC15CC-ED23-D6EF-3EA1-9BF15B08B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5609"/>
            <a:ext cx="4220774" cy="5185406"/>
          </a:xfrm>
          <a:prstGeom prst="rect">
            <a:avLst/>
          </a:prstGeom>
        </p:spPr>
      </p:pic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C0520D0-CBCA-EEC8-5124-DAE35DD51514}"/>
              </a:ext>
            </a:extLst>
          </p:cNvPr>
          <p:cNvSpPr txBox="1"/>
          <p:nvPr/>
        </p:nvSpPr>
        <p:spPr>
          <a:xfrm>
            <a:off x="4275276" y="1705287"/>
            <a:ext cx="4748435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>
                <a:latin typeface="+mj-lt"/>
              </a:rPr>
              <a:t>CHATBOT</a:t>
            </a:r>
            <a:r>
              <a:rPr lang="vi-VN" sz="2000">
                <a:latin typeface="+mj-lt"/>
              </a:rPr>
              <a:t> </a:t>
            </a:r>
            <a:r>
              <a:rPr lang="vi-VN" sz="2800">
                <a:latin typeface="+mj-lt"/>
              </a:rPr>
              <a:t>hỗ trợ giản viên ra đề tài gợi ý đề tài</a:t>
            </a:r>
            <a:endParaRPr lang="vi-VN" sz="2000">
              <a:latin typeface="+mj-lt"/>
            </a:endParaRPr>
          </a:p>
          <a:p>
            <a:r>
              <a:rPr lang="vi-VN" sz="3600">
                <a:latin typeface="+mj-lt"/>
              </a:rPr>
              <a:t>Tích hợp api gemini </a:t>
            </a:r>
          </a:p>
          <a:p>
            <a:r>
              <a:rPr lang="vi-VN" sz="3600">
                <a:latin typeface="+mj-lt"/>
              </a:rPr>
              <a:t>Thống kê </a:t>
            </a:r>
          </a:p>
          <a:p>
            <a:r>
              <a:rPr lang="vi-VN" sz="3600">
                <a:latin typeface="+mj-lt"/>
              </a:rPr>
              <a:t>Tìm kiếm sinh viên </a:t>
            </a:r>
          </a:p>
          <a:p>
            <a:r>
              <a:rPr lang="vi-VN" sz="3600">
                <a:latin typeface="+mj-lt"/>
              </a:rPr>
              <a:t>Tìm giao viên </a:t>
            </a:r>
          </a:p>
          <a:p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25272434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8FA68-94A3-6312-E5E3-D9B2A303F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7058FB2-B35E-53EE-BE76-1DA84602C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40958"/>
            <a:ext cx="8229600" cy="507240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vi-VN" sz="2800">
                <a:latin typeface="Arial (Body)"/>
              </a:rPr>
              <a:t>Kết luận &amp; Hướng phát triển</a:t>
            </a:r>
            <a:br>
              <a:rPr lang="vi-VN" sz="2800">
                <a:latin typeface="Arial (Body)"/>
              </a:rPr>
            </a:br>
            <a:endParaRPr lang="vi-VN" sz="2800" dirty="0">
              <a:latin typeface="Arial (Body)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300"/>
              <a:t>10</a:t>
            </a: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3C7C4845-F699-DA1A-1E2B-46B6D002D1E4}"/>
              </a:ext>
            </a:extLst>
          </p:cNvPr>
          <p:cNvSpPr txBox="1"/>
          <p:nvPr/>
        </p:nvSpPr>
        <p:spPr>
          <a:xfrm>
            <a:off x="0" y="794578"/>
            <a:ext cx="88392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vi-VN" sz="2400" b="1" i="0">
              <a:solidFill>
                <a:srgbClr val="1A1C1E"/>
              </a:solidFill>
              <a:effectLst/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vi-VN" sz="2400" b="1" i="0">
                <a:solidFill>
                  <a:srgbClr val="1A1C1E"/>
                </a:solidFill>
                <a:effectLst/>
                <a:latin typeface="+mj-lt"/>
              </a:rPr>
              <a:t>Kết luận:</a:t>
            </a:r>
            <a:endParaRPr lang="vi-VN" sz="2400" b="0" i="0">
              <a:solidFill>
                <a:srgbClr val="1A1C1E"/>
              </a:solidFill>
              <a:effectLst/>
              <a:latin typeface="+mj-l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vi-VN" sz="2400" b="0" i="0">
                <a:solidFill>
                  <a:srgbClr val="1A1C1E"/>
                </a:solidFill>
                <a:effectLst/>
                <a:latin typeface="+mj-lt"/>
              </a:rPr>
              <a:t>Đã xây dựng thành công website hoàn chỉnh theo mô hình MVC.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vi-VN" sz="2400" b="0" i="0">
                <a:solidFill>
                  <a:srgbClr val="1A1C1E"/>
                </a:solidFill>
                <a:effectLst/>
                <a:latin typeface="+mj-lt"/>
              </a:rPr>
              <a:t>Đáp ứng đầy đủ nghiệp vụ quản lý đồ án của Khoa CNTT.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vi-VN" sz="2400" b="0" i="0">
                <a:solidFill>
                  <a:srgbClr val="1A1C1E"/>
                </a:solidFill>
                <a:effectLst/>
                <a:latin typeface="+mj-lt"/>
              </a:rPr>
              <a:t>Giao diện thân thiện, quy trình tự động hóa cao.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vi-VN" sz="2400" b="1" i="0">
                <a:solidFill>
                  <a:srgbClr val="1A1C1E"/>
                </a:solidFill>
                <a:effectLst/>
                <a:latin typeface="+mj-lt"/>
              </a:rPr>
              <a:t>Hướng phát triển:</a:t>
            </a:r>
            <a:endParaRPr lang="vi-VN" sz="2400" b="0" i="0">
              <a:solidFill>
                <a:srgbClr val="1A1C1E"/>
              </a:solidFill>
              <a:effectLst/>
              <a:latin typeface="+mj-l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vi-VN" sz="2400" b="0" i="0">
                <a:solidFill>
                  <a:srgbClr val="1A1C1E"/>
                </a:solidFill>
                <a:effectLst/>
                <a:latin typeface="+mj-lt"/>
              </a:rPr>
              <a:t>Phát triển App Mobile (Truy cập mọi lúc mọi nơi).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vi-VN" sz="2400" b="0" i="0">
                <a:solidFill>
                  <a:srgbClr val="1A1C1E"/>
                </a:solidFill>
                <a:effectLst/>
                <a:latin typeface="+mj-lt"/>
              </a:rPr>
              <a:t>Tích hợp Video Call họp nhóm trực tuyến.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vi-VN" sz="2400" b="0" i="0">
                <a:solidFill>
                  <a:srgbClr val="1A1C1E"/>
                </a:solidFill>
                <a:effectLst/>
                <a:latin typeface="+mj-lt"/>
              </a:rPr>
              <a:t>Thống kê báo cáo nâng cao (Biểu đồ trực quan).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vi-VN" sz="2400" b="0" i="0">
                <a:solidFill>
                  <a:srgbClr val="1A1C1E"/>
                </a:solidFill>
                <a:effectLst/>
                <a:latin typeface="+mj-lt"/>
              </a:rPr>
              <a:t>Tích hợp thông báo qua Email/SMS.</a:t>
            </a:r>
          </a:p>
        </p:txBody>
      </p:sp>
    </p:spTree>
    <p:extLst>
      <p:ext uri="{BB962C8B-B14F-4D97-AF65-F5344CB8AC3E}">
        <p14:creationId xmlns:p14="http://schemas.microsoft.com/office/powerpoint/2010/main" val="3930612036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ỗ dành sẵn cho Nội dung 4">
            <a:extLst>
              <a:ext uri="{FF2B5EF4-FFF2-40B4-BE49-F238E27FC236}">
                <a16:creationId xmlns:a16="http://schemas.microsoft.com/office/drawing/2014/main" id="{78EB74D7-78FC-7E6B-48B5-B810FA12B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802" y="1171177"/>
            <a:ext cx="8845236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3600" b="1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en-US" sz="3600" b="1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vi-VN" sz="4300" b="1">
                <a:solidFill>
                  <a:srgbClr val="00B050"/>
                </a:solidFill>
              </a:rPr>
              <a:t>Cảm ơn thầy</a:t>
            </a:r>
            <a:r>
              <a:rPr lang="en-US" sz="4300" b="1">
                <a:solidFill>
                  <a:srgbClr val="00B050"/>
                </a:solidFill>
              </a:rPr>
              <a:t>, cô</a:t>
            </a:r>
            <a:r>
              <a:rPr lang="vi-VN" sz="4300" b="1">
                <a:solidFill>
                  <a:srgbClr val="00B050"/>
                </a:solidFill>
              </a:rPr>
              <a:t> và các bạn đã lắng nghe bài thuyết trình của nhóm</a:t>
            </a:r>
            <a:r>
              <a:rPr lang="en-US" sz="4300" b="1">
                <a:solidFill>
                  <a:srgbClr val="00B050"/>
                </a:solidFill>
              </a:rPr>
              <a:t> </a:t>
            </a:r>
            <a:r>
              <a:rPr lang="vi-VN" sz="4300" b="1">
                <a:solidFill>
                  <a:srgbClr val="00B050"/>
                </a:solidFill>
              </a:rPr>
              <a:t>chúng em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300"/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326122064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1166</TotalTime>
  <Words>910</Words>
  <Application>Microsoft Office PowerPoint</Application>
  <PresentationFormat>Trình chiếu Trên màn hình (4:3)</PresentationFormat>
  <Paragraphs>126</Paragraphs>
  <Slides>17</Slides>
  <Notes>3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9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17</vt:i4>
      </vt:variant>
    </vt:vector>
  </HeadingPairs>
  <TitlesOfParts>
    <vt:vector size="27" baseType="lpstr">
      <vt:lpstr>Arial</vt:lpstr>
      <vt:lpstr>Arial (Body)</vt:lpstr>
      <vt:lpstr>Calibri</vt:lpstr>
      <vt:lpstr>Inter</vt:lpstr>
      <vt:lpstr>Time  s New Roman</vt:lpstr>
      <vt:lpstr>Time new roman</vt:lpstr>
      <vt:lpstr>Time s New Roman</vt:lpstr>
      <vt:lpstr>Times New Roman</vt:lpstr>
      <vt:lpstr>Wingdings</vt:lpstr>
      <vt:lpstr>Office Theme</vt:lpstr>
      <vt:lpstr>     Xây dựng website quản lý Đồ án  chuyên ngành cho sinh viên Khoa  công nghệ thông tin </vt:lpstr>
      <vt:lpstr>Đề tài: Ứng dụng lịch sự kiện cộng đồng cho người lớn tuổi</vt:lpstr>
      <vt:lpstr>1. Lý do chọn đề tài</vt:lpstr>
      <vt:lpstr>2. Mục tiêu nghiên cứu</vt:lpstr>
      <vt:lpstr>   Cơ sở lý thuyết &amp; Công nghệ sử dụng </vt:lpstr>
      <vt:lpstr> </vt:lpstr>
      <vt:lpstr>Sơ đồ Diagrame  </vt:lpstr>
      <vt:lpstr>Sơ đồ  website</vt:lpstr>
      <vt:lpstr>4. Phân tích hệ thống - Các tác nhân </vt:lpstr>
      <vt:lpstr> Chức năng chính - Admin </vt:lpstr>
      <vt:lpstr>Chức năng chính - Giảng viên </vt:lpstr>
      <vt:lpstr>Chức năng chính - Sinh viên s</vt:lpstr>
      <vt:lpstr> Kết quả thực nghiệm </vt:lpstr>
      <vt:lpstr>Chân dung người dùng – Personas</vt:lpstr>
      <vt:lpstr>CHATBOT HỖ TRỢ GIẢNG VIÊN</vt:lpstr>
      <vt:lpstr>Kết luận &amp; Hướng phát triển </vt:lpstr>
      <vt:lpstr>Bản trình bày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1: TỔNG QUAN VỀ QUẢN LÝ DỰ ÁN PHẦN MỀM</dc:title>
  <dc:subject/>
  <dc:creator>Khac Quoc</dc:creator>
  <cp:keywords/>
  <dc:description>generated using python-pptx</dc:description>
  <cp:lastModifiedBy>Nguyen Dinh Tuan Khoa</cp:lastModifiedBy>
  <cp:revision>171</cp:revision>
  <dcterms:created xsi:type="dcterms:W3CDTF">2013-01-27T09:14:16Z</dcterms:created>
  <dcterms:modified xsi:type="dcterms:W3CDTF">2025-12-25T06:19:41Z</dcterms:modified>
  <cp:category/>
</cp:coreProperties>
</file>